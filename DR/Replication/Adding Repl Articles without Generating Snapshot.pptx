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62" r:id="rId5"/>
    <p:sldId id="267" r:id="rId6"/>
    <p:sldId id="270" r:id="rId7"/>
    <p:sldId id="272" r:id="rId8"/>
    <p:sldId id="274" r:id="rId9"/>
    <p:sldId id="273" r:id="rId10"/>
    <p:sldId id="257" r:id="rId11"/>
    <p:sldId id="264" r:id="rId12"/>
    <p:sldId id="263" r:id="rId13"/>
    <p:sldId id="278" r:id="rId14"/>
    <p:sldId id="269" r:id="rId15"/>
    <p:sldId id="259"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p15:clr>
            <a:srgbClr val="A4A3A4"/>
          </p15:clr>
        </p15:guide>
        <p15:guide id="2" orient="horz" pos="1620">
          <p15:clr>
            <a:srgbClr val="A4A3A4"/>
          </p15:clr>
        </p15:guide>
        <p15:guide id="3" pos="28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2B2B"/>
    <a:srgbClr val="56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92" autoAdjust="0"/>
  </p:normalViewPr>
  <p:slideViewPr>
    <p:cSldViewPr snapToGrid="0" snapToObjects="1" showGuides="1">
      <p:cViewPr varScale="1">
        <p:scale>
          <a:sx n="61" d="100"/>
          <a:sy n="61" d="100"/>
        </p:scale>
        <p:origin x="804" y="72"/>
      </p:cViewPr>
      <p:guideLst>
        <p:guide orient="horz" pos="528"/>
        <p:guide orient="horz" pos="1620"/>
        <p:guide pos="2894"/>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D67CD39-5C2A-3641-827F-792B9A317FF0}" type="datetimeFigureOut">
              <a:rPr lang="en-US" smtClean="0"/>
              <a:t>10/27/2015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C17056-648B-8440-B18C-7CE9D4885533}" type="slidenum">
              <a:rPr lang="en-US" smtClean="0"/>
              <a:t>‹#›</a:t>
            </a:fld>
            <a:endParaRPr lang="en-US"/>
          </a:p>
        </p:txBody>
      </p:sp>
    </p:spTree>
    <p:extLst>
      <p:ext uri="{BB962C8B-B14F-4D97-AF65-F5344CB8AC3E}">
        <p14:creationId xmlns:p14="http://schemas.microsoft.com/office/powerpoint/2010/main" val="1150383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6E3234-81C4-4948-8799-64417511424B}" type="datetimeFigureOut">
              <a:rPr lang="en-US" smtClean="0"/>
              <a:t>10/27/2015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59A738-C173-D94D-B2C2-9A426DADEA36}" type="slidenum">
              <a:rPr lang="en-US" smtClean="0"/>
              <a:t>‹#›</a:t>
            </a:fld>
            <a:endParaRPr lang="en-US"/>
          </a:p>
        </p:txBody>
      </p:sp>
    </p:spTree>
    <p:extLst>
      <p:ext uri="{BB962C8B-B14F-4D97-AF65-F5344CB8AC3E}">
        <p14:creationId xmlns:p14="http://schemas.microsoft.com/office/powerpoint/2010/main" val="85617999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2"/>
          <p:cNvSpPr>
            <a:spLocks noGrp="1"/>
          </p:cNvSpPr>
          <p:nvPr>
            <p:ph type="body" idx="10"/>
          </p:nvPr>
        </p:nvSpPr>
        <p:spPr>
          <a:xfrm>
            <a:off x="575781" y="2328844"/>
            <a:ext cx="8151010" cy="1579158"/>
          </a:xfrm>
        </p:spPr>
        <p:txBody>
          <a:bodyPr anchor="b">
            <a:normAutofit/>
          </a:bodyPr>
          <a:lstStyle>
            <a:lvl1pPr marL="0" indent="0" algn="r">
              <a:buNone/>
              <a:defRPr sz="2000">
                <a:solidFill>
                  <a:schemeClr val="tx1">
                    <a:lumMod val="65000"/>
                    <a:lumOff val="35000"/>
                  </a:schemeClr>
                </a:solidFill>
                <a:effectLst/>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4" name="Picture 3" descr="di_ppt-bg_optn2_v5.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6685" y="0"/>
            <a:ext cx="9230685" cy="5198722"/>
          </a:xfrm>
          <a:prstGeom prst="rect">
            <a:avLst/>
          </a:prstGeom>
        </p:spPr>
      </p:pic>
      <p:cxnSp>
        <p:nvCxnSpPr>
          <p:cNvPr id="7" name="Straight Connector 6"/>
          <p:cNvCxnSpPr/>
          <p:nvPr userDrawn="1"/>
        </p:nvCxnSpPr>
        <p:spPr>
          <a:xfrm>
            <a:off x="4086412" y="3971114"/>
            <a:ext cx="4640379"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
          </p:nvPr>
        </p:nvSpPr>
        <p:spPr>
          <a:xfrm>
            <a:off x="575781" y="3453985"/>
            <a:ext cx="8151010" cy="1125140"/>
          </a:xfrm>
        </p:spPr>
        <p:txBody>
          <a:bodyPr anchor="b">
            <a:normAutofit/>
          </a:bodyPr>
          <a:lstStyle>
            <a:lvl1pPr marL="0" indent="0" algn="r">
              <a:buNone/>
              <a:defRPr sz="2800">
                <a:solidFill>
                  <a:schemeClr val="tx2"/>
                </a:solidFill>
                <a:effectLst/>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Title 1"/>
          <p:cNvSpPr txBox="1">
            <a:spLocks/>
          </p:cNvSpPr>
          <p:nvPr userDrawn="1"/>
        </p:nvSpPr>
        <p:spPr>
          <a:xfrm>
            <a:off x="575781" y="2571750"/>
            <a:ext cx="8112520" cy="847074"/>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b="1" i="0" kern="1200" cap="all">
                <a:solidFill>
                  <a:srgbClr val="800000"/>
                </a:solidFill>
                <a:latin typeface="Arial"/>
                <a:ea typeface="+mj-ea"/>
                <a:cs typeface="Arial"/>
              </a:defRPr>
            </a:lvl1pPr>
          </a:lstStyle>
          <a:p>
            <a:endParaRPr lang="en-US" b="0" dirty="0">
              <a:latin typeface="Gill Sans"/>
              <a:cs typeface="Gill Sans"/>
            </a:endParaRPr>
          </a:p>
        </p:txBody>
      </p:sp>
      <p:pic>
        <p:nvPicPr>
          <p:cNvPr id="14" name="Picture 13" descr="DILogoBallGlass_v3.pn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86685" y="758169"/>
            <a:ext cx="4275283" cy="4440553"/>
          </a:xfrm>
          <a:prstGeom prst="rect">
            <a:avLst/>
          </a:prstGeom>
        </p:spPr>
      </p:pic>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64104" y="276129"/>
            <a:ext cx="2743200" cy="482040"/>
          </a:xfrm>
          <a:prstGeom prst="rect">
            <a:avLst/>
          </a:prstGeom>
        </p:spPr>
      </p:pic>
    </p:spTree>
    <p:extLst>
      <p:ext uri="{BB962C8B-B14F-4D97-AF65-F5344CB8AC3E}">
        <p14:creationId xmlns:p14="http://schemas.microsoft.com/office/powerpoint/2010/main" val="40211558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E8DC8B33-6545-7944-80DF-3F0DFD18D346}" type="slidenum">
              <a:rPr lang="en-US" smtClean="0"/>
              <a:t>‹#›</a:t>
            </a:fld>
            <a:endParaRPr lang="en-US"/>
          </a:p>
        </p:txBody>
      </p:sp>
      <p:cxnSp>
        <p:nvCxnSpPr>
          <p:cNvPr id="5" name="Straight Connector 4"/>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4755036"/>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pos="5472" userDrawn="1">
          <p15:clr>
            <a:srgbClr val="FBAE40"/>
          </p15:clr>
        </p15:guide>
        <p15:guide id="2" orient="horz" pos="2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6" name="Picture 5" descr="di_ppt-bg_optn2_v5.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6685" y="0"/>
            <a:ext cx="9230685" cy="5198722"/>
          </a:xfrm>
          <a:prstGeom prst="rect">
            <a:avLst/>
          </a:prstGeom>
        </p:spPr>
      </p:pic>
      <p:pic>
        <p:nvPicPr>
          <p:cNvPr id="7" name="Picture 6" descr="x.png"/>
          <p:cNvPicPr>
            <a:picLocks noChangeAspect="1"/>
          </p:cNvPicPr>
          <p:nvPr userDrawn="1"/>
        </p:nvPicPr>
        <p:blipFill>
          <a:blip r:embed="rId3">
            <a:alphaModFix amt="7000"/>
            <a:extLst>
              <a:ext uri="{28A0092B-C50C-407E-A947-70E740481C1C}">
                <a14:useLocalDpi xmlns:a14="http://schemas.microsoft.com/office/drawing/2010/main"/>
              </a:ext>
            </a:extLst>
          </a:blip>
          <a:stretch>
            <a:fillRect/>
          </a:stretch>
        </p:blipFill>
        <p:spPr>
          <a:xfrm>
            <a:off x="-294699" y="-386636"/>
            <a:ext cx="7130624" cy="7610920"/>
          </a:xfrm>
          <a:prstGeom prst="rect">
            <a:avLst/>
          </a:prstGeom>
        </p:spPr>
      </p:pic>
      <p:sp>
        <p:nvSpPr>
          <p:cNvPr id="11" name="Text Placeholder 2"/>
          <p:cNvSpPr>
            <a:spLocks noGrp="1"/>
          </p:cNvSpPr>
          <p:nvPr>
            <p:ph type="body" idx="1"/>
          </p:nvPr>
        </p:nvSpPr>
        <p:spPr>
          <a:xfrm>
            <a:off x="575781" y="3453985"/>
            <a:ext cx="8151010" cy="1125140"/>
          </a:xfrm>
        </p:spPr>
        <p:txBody>
          <a:bodyPr anchor="b">
            <a:normAutofit/>
          </a:bodyPr>
          <a:lstStyle>
            <a:lvl1pPr marL="0" indent="0">
              <a:buNone/>
              <a:defRPr sz="2800">
                <a:solidFill>
                  <a:srgbClr val="791314"/>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64104" y="451979"/>
            <a:ext cx="2743200" cy="482040"/>
          </a:xfrm>
          <a:prstGeom prst="rect">
            <a:avLst/>
          </a:prstGeom>
        </p:spPr>
      </p:pic>
    </p:spTree>
    <p:extLst>
      <p:ext uri="{BB962C8B-B14F-4D97-AF65-F5344CB8AC3E}">
        <p14:creationId xmlns:p14="http://schemas.microsoft.com/office/powerpoint/2010/main" val="1837479758"/>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76" userDrawn="1">
          <p15:clr>
            <a:srgbClr val="FBAE40"/>
          </p15:clr>
        </p15:guide>
        <p15:guide id="2" pos="2880" userDrawn="1">
          <p15:clr>
            <a:srgbClr val="FBAE40"/>
          </p15:clr>
        </p15:guide>
        <p15:guide id="3" pos="2980" userDrawn="1">
          <p15:clr>
            <a:srgbClr val="FBAE40"/>
          </p15:clr>
        </p15:guide>
        <p15:guide id="4" pos="30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00151"/>
            <a:ext cx="4038600" cy="3394472"/>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6" name="Straight Connector 5"/>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5"/>
          <p:cNvSpPr>
            <a:spLocks noGrp="1"/>
          </p:cNvSpPr>
          <p:nvPr>
            <p:ph type="sldNum" sz="quarter" idx="4"/>
          </p:nvPr>
        </p:nvSpPr>
        <p:spPr>
          <a:xfrm>
            <a:off x="6553200" y="4743596"/>
            <a:ext cx="2133600" cy="273844"/>
          </a:xfrm>
          <a:prstGeom prst="rect">
            <a:avLst/>
          </a:prstGeom>
        </p:spPr>
        <p:txBody>
          <a:bodyPr vert="horz" lIns="91440" tIns="45720" rIns="91440" bIns="45720" rtlCol="0" anchor="ctr"/>
          <a:lstStyle>
            <a:lvl1pPr algn="r">
              <a:defRPr sz="1200">
                <a:solidFill>
                  <a:schemeClr val="tx2"/>
                </a:solidFill>
                <a:latin typeface="Arial"/>
                <a:cs typeface="Arial"/>
              </a:defRPr>
            </a:lvl1pPr>
          </a:lstStyle>
          <a:p>
            <a:fld id="{E8DC8B33-6545-7944-80DF-3F0DFD18D346}" type="slidenum">
              <a:rPr lang="en-US" smtClean="0"/>
              <a:pPr/>
              <a:t>‹#›</a:t>
            </a:fld>
            <a:endParaRPr lang="en-US" dirty="0"/>
          </a:p>
        </p:txBody>
      </p:sp>
    </p:spTree>
    <p:extLst>
      <p:ext uri="{BB962C8B-B14F-4D97-AF65-F5344CB8AC3E}">
        <p14:creationId xmlns:p14="http://schemas.microsoft.com/office/powerpoint/2010/main" val="161404028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6" name="Straight Connector 5"/>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5"/>
          <p:cNvSpPr>
            <a:spLocks noGrp="1"/>
          </p:cNvSpPr>
          <p:nvPr>
            <p:ph type="sldNum" sz="quarter" idx="4"/>
          </p:nvPr>
        </p:nvSpPr>
        <p:spPr>
          <a:xfrm>
            <a:off x="6553200" y="4743596"/>
            <a:ext cx="2133600" cy="273844"/>
          </a:xfrm>
          <a:prstGeom prst="rect">
            <a:avLst/>
          </a:prstGeom>
        </p:spPr>
        <p:txBody>
          <a:bodyPr vert="horz" lIns="91440" tIns="45720" rIns="91440" bIns="45720" rtlCol="0" anchor="ctr"/>
          <a:lstStyle>
            <a:lvl1pPr algn="r">
              <a:defRPr sz="1200">
                <a:solidFill>
                  <a:schemeClr val="tx2"/>
                </a:solidFill>
                <a:latin typeface="Arial"/>
                <a:cs typeface="Arial"/>
              </a:defRPr>
            </a:lvl1pPr>
          </a:lstStyle>
          <a:p>
            <a:fld id="{E8DC8B33-6545-7944-80DF-3F0DFD18D346}" type="slidenum">
              <a:rPr lang="en-US" smtClean="0"/>
              <a:pPr/>
              <a:t>‹#›</a:t>
            </a:fld>
            <a:endParaRPr lang="en-US" dirty="0"/>
          </a:p>
        </p:txBody>
      </p:sp>
    </p:spTree>
    <p:extLst>
      <p:ext uri="{BB962C8B-B14F-4D97-AF65-F5344CB8AC3E}">
        <p14:creationId xmlns:p14="http://schemas.microsoft.com/office/powerpoint/2010/main" val="200439977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151335"/>
            <a:ext cx="4041775" cy="47982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9" name="Slide Number Placeholder 5"/>
          <p:cNvSpPr>
            <a:spLocks noGrp="1"/>
          </p:cNvSpPr>
          <p:nvPr>
            <p:ph type="sldNum" sz="quarter" idx="10"/>
          </p:nvPr>
        </p:nvSpPr>
        <p:spPr>
          <a:xfrm>
            <a:off x="6553200" y="4743596"/>
            <a:ext cx="2133600" cy="273844"/>
          </a:xfrm>
          <a:prstGeom prst="rect">
            <a:avLst/>
          </a:prstGeom>
        </p:spPr>
        <p:txBody>
          <a:bodyPr vert="horz" lIns="91440" tIns="45720" rIns="91440" bIns="45720" rtlCol="0" anchor="ctr"/>
          <a:lstStyle>
            <a:lvl1pPr algn="r">
              <a:defRPr sz="1200">
                <a:solidFill>
                  <a:schemeClr val="tx2"/>
                </a:solidFill>
                <a:latin typeface="Arial"/>
                <a:cs typeface="Arial"/>
              </a:defRPr>
            </a:lvl1pPr>
          </a:lstStyle>
          <a:p>
            <a:fld id="{E8DC8B33-6545-7944-80DF-3F0DFD18D346}" type="slidenum">
              <a:rPr lang="en-US" smtClean="0"/>
              <a:pPr/>
              <a:t>‹#›</a:t>
            </a:fld>
            <a:endParaRPr lang="en-US" dirty="0"/>
          </a:p>
        </p:txBody>
      </p:sp>
    </p:spTree>
    <p:extLst>
      <p:ext uri="{BB962C8B-B14F-4D97-AF65-F5344CB8AC3E}">
        <p14:creationId xmlns:p14="http://schemas.microsoft.com/office/powerpoint/2010/main" val="15786816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lvl1pPr>
              <a:defRPr>
                <a:latin typeface="Gill Sans"/>
                <a:cs typeface="Gill Sans"/>
              </a:defRPr>
            </a:lvl1pPr>
          </a:lstStyle>
          <a:p>
            <a:fld id="{E8DC8B33-6545-7944-80DF-3F0DFD18D346}" type="slidenum">
              <a:rPr lang="en-US" smtClean="0"/>
              <a:pPr/>
              <a:t>‹#›</a:t>
            </a:fld>
            <a:endParaRPr lang="en-US" dirty="0"/>
          </a:p>
        </p:txBody>
      </p:sp>
      <p:cxnSp>
        <p:nvCxnSpPr>
          <p:cNvPr id="4" name="Straight Connector 3"/>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401711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ll Sans"/>
                <a:cs typeface="Gill Sans"/>
              </a:defRPr>
            </a:lvl1pPr>
          </a:lstStyle>
          <a:p>
            <a:fld id="{E8DC8B33-6545-7944-80DF-3F0DFD18D346}" type="slidenum">
              <a:rPr lang="en-US" smtClean="0"/>
              <a:pPr/>
              <a:t>‹#›</a:t>
            </a:fld>
            <a:endParaRPr lang="en-US" dirty="0"/>
          </a:p>
        </p:txBody>
      </p:sp>
    </p:spTree>
    <p:extLst>
      <p:ext uri="{BB962C8B-B14F-4D97-AF65-F5344CB8AC3E}">
        <p14:creationId xmlns:p14="http://schemas.microsoft.com/office/powerpoint/2010/main" val="19987232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no logo no page #">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atin typeface="Gill Sans"/>
                <a:cs typeface="Gill Sans"/>
              </a:defRPr>
            </a:lvl1pPr>
          </a:lstStyle>
          <a:p>
            <a:fld id="{E8DC8B33-6545-7944-80DF-3F0DFD18D346}" type="slidenum">
              <a:rPr lang="en-US" smtClean="0"/>
              <a:pPr/>
              <a:t>‹#›</a:t>
            </a:fld>
            <a:endParaRPr lang="en-US" dirty="0"/>
          </a:p>
        </p:txBody>
      </p:sp>
      <p:pic>
        <p:nvPicPr>
          <p:cNvPr id="3" name="Picture 2" descr="di_ppt-bg_optn2_v5.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6685" y="0"/>
            <a:ext cx="9230685" cy="5198722"/>
          </a:xfrm>
          <a:prstGeom prst="rect">
            <a:avLst/>
          </a:prstGeom>
        </p:spPr>
      </p:pic>
      <p:sp>
        <p:nvSpPr>
          <p:cNvPr id="5" name="Title 1"/>
          <p:cNvSpPr>
            <a:spLocks noGrp="1"/>
          </p:cNvSpPr>
          <p:nvPr>
            <p:ph type="title"/>
          </p:nvPr>
        </p:nvSpPr>
        <p:spPr>
          <a:xfrm>
            <a:off x="457200" y="205979"/>
            <a:ext cx="8229600" cy="857250"/>
          </a:xfrm>
        </p:spPr>
        <p:txBody>
          <a:bodyPr/>
          <a:lstStyle/>
          <a:p>
            <a:r>
              <a:rPr lang="en-US" smtClean="0"/>
              <a:t>Click to edit Master title style</a:t>
            </a:r>
            <a:endParaRPr lang="en-US"/>
          </a:p>
        </p:txBody>
      </p:sp>
      <p:cxnSp>
        <p:nvCxnSpPr>
          <p:cNvPr id="6" name="Straight Connector 5"/>
          <p:cNvCxnSpPr/>
          <p:nvPr userDrawn="1"/>
        </p:nvCxnSpPr>
        <p:spPr>
          <a:xfrm>
            <a:off x="457200" y="1063229"/>
            <a:ext cx="8229600" cy="0"/>
          </a:xfrm>
          <a:prstGeom prst="line">
            <a:avLst/>
          </a:prstGeom>
          <a:ln w="25400">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977806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lvl1pPr>
              <a:defRPr>
                <a:latin typeface="Gill Sans"/>
                <a:cs typeface="Gill Sans"/>
              </a:defRPr>
            </a:lvl1pPr>
          </a:lstStyle>
          <a:p>
            <a:fld id="{E8DC8B33-6545-7944-80DF-3F0DFD18D346}" type="slidenum">
              <a:rPr lang="en-US" smtClean="0"/>
              <a:pPr/>
              <a:t>‹#›</a:t>
            </a:fld>
            <a:endParaRPr lang="en-US" dirty="0"/>
          </a:p>
        </p:txBody>
      </p:sp>
    </p:spTree>
    <p:extLst>
      <p:ext uri="{BB962C8B-B14F-4D97-AF65-F5344CB8AC3E}">
        <p14:creationId xmlns:p14="http://schemas.microsoft.com/office/powerpoint/2010/main" val="6239641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7" name="Picture 6" descr="di_ppt-bg_optn2_v5.jp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6685" y="0"/>
            <a:ext cx="9230685" cy="5198722"/>
          </a:xfrm>
          <a:prstGeom prst="rect">
            <a:avLst/>
          </a:prstGeom>
        </p:spPr>
      </p:pic>
      <p:pic>
        <p:nvPicPr>
          <p:cNvPr id="5" name="Picture 4" descr="Microsoft_Gold_Certified_Partner.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959375" y="4736685"/>
            <a:ext cx="611896" cy="276868"/>
          </a:xfrm>
          <a:prstGeom prst="rect">
            <a:avLst/>
          </a:prstGeom>
        </p:spPr>
      </p:pic>
      <p:pic>
        <p:nvPicPr>
          <p:cNvPr id="6" name="Picture 5" descr="Oracle_Partner.png"/>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667421" y="4783190"/>
            <a:ext cx="1315128" cy="183858"/>
          </a:xfrm>
          <a:prstGeom prst="rect">
            <a:avLst/>
          </a:prstGeom>
        </p:spPr>
      </p:pic>
      <p:pic>
        <p:nvPicPr>
          <p:cNvPr id="9" name="Picture 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38554" y="4730507"/>
            <a:ext cx="1645920" cy="289224"/>
          </a:xfrm>
          <a:prstGeom prst="rect">
            <a:avLst/>
          </a:prstGeom>
        </p:spPr>
      </p:pic>
      <p:pic>
        <p:nvPicPr>
          <p:cNvPr id="3" name="Picture 2"/>
          <p:cNvPicPr>
            <a:picLocks noChangeAspect="1"/>
          </p:cNvPicPr>
          <p:nvPr userDrawn="1"/>
        </p:nvPicPr>
        <p:blipFill rotWithShape="1">
          <a:blip r:embed="rId6">
            <a:extLst>
              <a:ext uri="{28A0092B-C50C-407E-A947-70E740481C1C}">
                <a14:useLocalDpi xmlns:a14="http://schemas.microsoft.com/office/drawing/2010/main" val="0"/>
              </a:ext>
            </a:extLst>
          </a:blip>
          <a:srcRect l="5497" r="1540" b="19726"/>
          <a:stretch/>
        </p:blipFill>
        <p:spPr>
          <a:xfrm>
            <a:off x="2525151" y="534927"/>
            <a:ext cx="4185138" cy="4128868"/>
          </a:xfrm>
          <a:prstGeom prst="rect">
            <a:avLst/>
          </a:prstGeom>
        </p:spPr>
      </p:pic>
    </p:spTree>
    <p:extLst>
      <p:ext uri="{BB962C8B-B14F-4D97-AF65-F5344CB8AC3E}">
        <p14:creationId xmlns:p14="http://schemas.microsoft.com/office/powerpoint/2010/main" val="31113471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di_ppt-bg_optn2_v5.jpg"/>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86685" y="0"/>
            <a:ext cx="9230685" cy="5198722"/>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4"/>
          </p:nvPr>
        </p:nvSpPr>
        <p:spPr>
          <a:xfrm>
            <a:off x="6553200" y="4743596"/>
            <a:ext cx="2133600" cy="273844"/>
          </a:xfrm>
          <a:prstGeom prst="rect">
            <a:avLst/>
          </a:prstGeom>
        </p:spPr>
        <p:txBody>
          <a:bodyPr vert="horz" lIns="91440" tIns="45720" rIns="91440" bIns="45720" rtlCol="0" anchor="ctr"/>
          <a:lstStyle>
            <a:lvl1pPr algn="r">
              <a:defRPr sz="1200">
                <a:solidFill>
                  <a:schemeClr val="tx2"/>
                </a:solidFill>
                <a:latin typeface="Arial"/>
                <a:cs typeface="Arial"/>
              </a:defRPr>
            </a:lvl1pPr>
          </a:lstStyle>
          <a:p>
            <a:fld id="{E8DC8B33-6545-7944-80DF-3F0DFD18D346}" type="slidenum">
              <a:rPr lang="en-US" smtClean="0"/>
              <a:pPr/>
              <a:t>‹#›</a:t>
            </a:fld>
            <a:endParaRPr lang="en-US" dirty="0"/>
          </a:p>
        </p:txBody>
      </p:sp>
      <p:sp>
        <p:nvSpPr>
          <p:cNvPr id="4" name="TextBox 3"/>
          <p:cNvSpPr txBox="1"/>
          <p:nvPr userDrawn="1"/>
        </p:nvSpPr>
        <p:spPr>
          <a:xfrm>
            <a:off x="3309582" y="4804605"/>
            <a:ext cx="2777319" cy="230832"/>
          </a:xfrm>
          <a:prstGeom prst="rect">
            <a:avLst/>
          </a:prstGeom>
          <a:noFill/>
        </p:spPr>
        <p:txBody>
          <a:bodyPr wrap="square" rtlCol="0">
            <a:spAutoFit/>
          </a:bodyPr>
          <a:lstStyle/>
          <a:p>
            <a:pPr algn="ctr"/>
            <a:r>
              <a:rPr lang="en-US" sz="900" i="1" dirty="0" smtClean="0">
                <a:solidFill>
                  <a:schemeClr val="bg1">
                    <a:lumMod val="50000"/>
                  </a:schemeClr>
                </a:solidFill>
              </a:rPr>
              <a:t>Company Confidential</a:t>
            </a:r>
            <a:endParaRPr lang="en-US" sz="900" i="1" dirty="0">
              <a:solidFill>
                <a:schemeClr val="bg1">
                  <a:lumMod val="50000"/>
                </a:schemeClr>
              </a:solidFill>
            </a:endParaRPr>
          </a:p>
        </p:txBody>
      </p:sp>
      <p:pic>
        <p:nvPicPr>
          <p:cNvPr id="5" name="Picture 4"/>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10418" y="4733877"/>
            <a:ext cx="1645920" cy="289224"/>
          </a:xfrm>
          <a:prstGeom prst="rect">
            <a:avLst/>
          </a:prstGeom>
        </p:spPr>
      </p:pic>
    </p:spTree>
    <p:extLst>
      <p:ext uri="{BB962C8B-B14F-4D97-AF65-F5344CB8AC3E}">
        <p14:creationId xmlns:p14="http://schemas.microsoft.com/office/powerpoint/2010/main" val="4209143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9" r:id="rId5"/>
    <p:sldLayoutId id="2147483653" r:id="rId6"/>
    <p:sldLayoutId id="2147483654" r:id="rId7"/>
    <p:sldLayoutId id="2147483655" r:id="rId8"/>
    <p:sldLayoutId id="2147483660" r:id="rId9"/>
    <p:sldLayoutId id="2147483657" r:id="rId10"/>
    <p:sldLayoutId id="2147483658" r:id="rId11"/>
  </p:sldLayoutIdLst>
  <p:timing>
    <p:tnLst>
      <p:par>
        <p:cTn id="1" dur="indefinite" restart="never" nodeType="tmRoot"/>
      </p:par>
    </p:tnLst>
  </p:timing>
  <p:hf hdr="0" ftr="0" dt="0"/>
  <p:txStyles>
    <p:titleStyle>
      <a:lvl1pPr algn="l" defTabSz="457200" rtl="0" eaLnBrk="1" latinLnBrk="0" hangingPunct="1">
        <a:spcBef>
          <a:spcPct val="0"/>
        </a:spcBef>
        <a:buNone/>
        <a:defRPr sz="3200" b="0" kern="1200">
          <a:solidFill>
            <a:schemeClr val="tx2"/>
          </a:solidFill>
          <a:latin typeface="Arial"/>
          <a:ea typeface="+mj-ea"/>
          <a:cs typeface="Arial"/>
        </a:defRPr>
      </a:lvl1pPr>
    </p:titleStyle>
    <p:bodyStyle>
      <a:lvl1pPr marL="342900" indent="-342900" algn="l" defTabSz="457200" rtl="0" eaLnBrk="1" latinLnBrk="0" hangingPunct="1">
        <a:spcBef>
          <a:spcPct val="20000"/>
        </a:spcBef>
        <a:buClr>
          <a:srgbClr val="800000"/>
        </a:buClr>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Clr>
          <a:srgbClr val="800000"/>
        </a:buClr>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Clr>
          <a:srgbClr val="800000"/>
        </a:buClr>
        <a:buFont typeface="Courier New"/>
        <a:buChar char="o"/>
        <a:defRPr sz="1800" kern="1200">
          <a:solidFill>
            <a:schemeClr val="tx1"/>
          </a:solidFill>
          <a:latin typeface="Arial"/>
          <a:ea typeface="+mn-ea"/>
          <a:cs typeface="Arial"/>
        </a:defRPr>
      </a:lvl3pPr>
      <a:lvl4pPr marL="16002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sdn.microsoft.com/en-us/library/ms151198(v=sql.110).aspx"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msdn.microsoft.com/en-us/library/cc645993(v=SQL.110).aspx" TargetMode="External"/><Relationship Id="rId7" Type="http://schemas.openxmlformats.org/officeDocument/2006/relationships/hyperlink" Target="http://www.sqlservercentral.com/articles/Replication/119650/" TargetMode="External"/><Relationship Id="rId2" Type="http://schemas.openxmlformats.org/officeDocument/2006/relationships/hyperlink" Target="https://msdn.microsoft.com/en-us/library/ms151198(v=sql.110).aspx" TargetMode="External"/><Relationship Id="rId1" Type="http://schemas.openxmlformats.org/officeDocument/2006/relationships/slideLayout" Target="../slideLayouts/slideLayout9.xml"/><Relationship Id="rId6" Type="http://schemas.openxmlformats.org/officeDocument/2006/relationships/hyperlink" Target="https://msdn.microsoft.com/en-us/library/ms152746(v=sql.110).aspx" TargetMode="External"/><Relationship Id="rId5" Type="http://schemas.openxmlformats.org/officeDocument/2006/relationships/hyperlink" Target="https://msdn.microsoft.com/en-us/library/ms151832(v=sql.110).aspx" TargetMode="External"/><Relationship Id="rId4" Type="http://schemas.openxmlformats.org/officeDocument/2006/relationships/hyperlink" Target="https://msdn.microsoft.com/en-us/library/ms151176(v=sql.110).asp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3540211" y="3021227"/>
            <a:ext cx="5186579" cy="1927654"/>
          </a:xfrm>
        </p:spPr>
        <p:txBody>
          <a:bodyPr/>
          <a:lstStyle/>
          <a:p>
            <a:r>
              <a:rPr lang="en-US" dirty="0" smtClean="0"/>
              <a:t>Add Replication Articles without Generating Full Snapshot</a:t>
            </a:r>
            <a:endParaRPr lang="en-US" dirty="0"/>
          </a:p>
        </p:txBody>
      </p:sp>
      <p:sp>
        <p:nvSpPr>
          <p:cNvPr id="5" name="Text Placeholder 4"/>
          <p:cNvSpPr>
            <a:spLocks noGrp="1"/>
          </p:cNvSpPr>
          <p:nvPr>
            <p:ph type="body" idx="10"/>
          </p:nvPr>
        </p:nvSpPr>
        <p:spPr>
          <a:xfrm>
            <a:off x="6524368" y="3509318"/>
            <a:ext cx="2202422" cy="398683"/>
          </a:xfrm>
        </p:spPr>
        <p:txBody>
          <a:bodyPr/>
          <a:lstStyle/>
          <a:p>
            <a:r>
              <a:rPr lang="en-US" dirty="0" smtClean="0"/>
              <a:t>October 27, 2015</a:t>
            </a:r>
            <a:endParaRPr lang="en-US" dirty="0"/>
          </a:p>
        </p:txBody>
      </p:sp>
    </p:spTree>
    <p:extLst>
      <p:ext uri="{BB962C8B-B14F-4D97-AF65-F5344CB8AC3E}">
        <p14:creationId xmlns:p14="http://schemas.microsoft.com/office/powerpoint/2010/main" val="42032126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Replication Basics</a:t>
            </a:r>
            <a:endParaRPr lang="en-US" dirty="0"/>
          </a:p>
        </p:txBody>
      </p:sp>
      <p:sp>
        <p:nvSpPr>
          <p:cNvPr id="3" name="Content Placeholder 2"/>
          <p:cNvSpPr>
            <a:spLocks noGrp="1"/>
          </p:cNvSpPr>
          <p:nvPr>
            <p:ph sz="half" idx="1"/>
          </p:nvPr>
        </p:nvSpPr>
        <p:spPr>
          <a:xfrm>
            <a:off x="457199" y="1200151"/>
            <a:ext cx="8229601" cy="3394472"/>
          </a:xfrm>
        </p:spPr>
        <p:txBody>
          <a:bodyPr>
            <a:normAutofit fontScale="85000" lnSpcReduction="20000"/>
          </a:bodyPr>
          <a:lstStyle/>
          <a:p>
            <a:r>
              <a:rPr lang="en-US" dirty="0" smtClean="0"/>
              <a:t>What is replication?</a:t>
            </a:r>
          </a:p>
          <a:p>
            <a:pPr lvl="1"/>
            <a:r>
              <a:rPr lang="en-US" dirty="0" smtClean="0"/>
              <a:t>Methods to push and pull data between instances/servers.</a:t>
            </a:r>
          </a:p>
          <a:p>
            <a:pPr lvl="1"/>
            <a:r>
              <a:rPr lang="en-US" dirty="0" smtClean="0"/>
              <a:t>Publishing supporting on Enterprise, BI, and Standard.</a:t>
            </a:r>
          </a:p>
          <a:p>
            <a:pPr lvl="1"/>
            <a:r>
              <a:rPr lang="en-US" dirty="0" smtClean="0"/>
              <a:t>“</a:t>
            </a:r>
            <a:r>
              <a:rPr lang="en-US" dirty="0"/>
              <a:t>Replication is a set of technologies for copying and distributing data and database objects from one database to another and then synchronizing between databases to maintain consistency. Using replication, you can distribute data to different locations and to remote or mobile users over local and wide area networks, dial-up connections, wireless connections, and the Internet</a:t>
            </a:r>
            <a:r>
              <a:rPr lang="en-US" dirty="0" smtClean="0"/>
              <a:t>.” (</a:t>
            </a:r>
            <a:r>
              <a:rPr lang="en-US" dirty="0" smtClean="0">
                <a:hlinkClick r:id="rId2"/>
              </a:rPr>
              <a:t>MSDN</a:t>
            </a:r>
            <a:r>
              <a:rPr lang="en-US" dirty="0" smtClean="0"/>
              <a:t>)</a:t>
            </a:r>
            <a:endParaRPr lang="en-US" dirty="0"/>
          </a:p>
          <a:p>
            <a:r>
              <a:rPr lang="en-US" dirty="0"/>
              <a:t>Replication members:</a:t>
            </a:r>
          </a:p>
          <a:p>
            <a:pPr lvl="1"/>
            <a:r>
              <a:rPr lang="en-US" dirty="0"/>
              <a:t>Publisher</a:t>
            </a:r>
          </a:p>
          <a:p>
            <a:pPr lvl="1"/>
            <a:r>
              <a:rPr lang="en-US" dirty="0"/>
              <a:t>Subscriber</a:t>
            </a:r>
          </a:p>
          <a:p>
            <a:pPr lvl="1"/>
            <a:r>
              <a:rPr lang="en-US" dirty="0"/>
              <a:t>Distributor (can be publisher or separate instance</a:t>
            </a:r>
            <a:r>
              <a:rPr lang="en-US" dirty="0" smtClean="0"/>
              <a:t>)</a:t>
            </a:r>
          </a:p>
          <a:p>
            <a:pPr marL="457200" lvl="1" indent="0">
              <a:buNone/>
            </a:pPr>
            <a:endParaRPr lang="en-US" dirty="0" smtClean="0"/>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solidFill>
                  <a:srgbClr val="791314"/>
                </a:solidFill>
              </a:rPr>
              <a:pPr/>
              <a:t>2</a:t>
            </a:fld>
            <a:endParaRPr lang="en-US" dirty="0">
              <a:solidFill>
                <a:srgbClr val="791314"/>
              </a:solidFill>
            </a:endParaRPr>
          </a:p>
        </p:txBody>
      </p:sp>
    </p:spTree>
    <p:extLst>
      <p:ext uri="{BB962C8B-B14F-4D97-AF65-F5344CB8AC3E}">
        <p14:creationId xmlns:p14="http://schemas.microsoft.com/office/powerpoint/2010/main" val="1629249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Replication Basics (</a:t>
            </a:r>
            <a:r>
              <a:rPr lang="en-US" dirty="0" err="1" smtClean="0"/>
              <a:t>con’t</a:t>
            </a:r>
            <a:r>
              <a:rPr lang="en-US" dirty="0" smtClean="0"/>
              <a:t>)</a:t>
            </a:r>
            <a:endParaRPr lang="en-US" dirty="0"/>
          </a:p>
        </p:txBody>
      </p:sp>
      <p:sp>
        <p:nvSpPr>
          <p:cNvPr id="3" name="Content Placeholder 2"/>
          <p:cNvSpPr>
            <a:spLocks noGrp="1"/>
          </p:cNvSpPr>
          <p:nvPr>
            <p:ph sz="half" idx="1"/>
          </p:nvPr>
        </p:nvSpPr>
        <p:spPr>
          <a:xfrm>
            <a:off x="457199" y="1200151"/>
            <a:ext cx="8229601" cy="3394472"/>
          </a:xfrm>
        </p:spPr>
        <p:txBody>
          <a:bodyPr>
            <a:normAutofit fontScale="92500" lnSpcReduction="10000"/>
          </a:bodyPr>
          <a:lstStyle/>
          <a:p>
            <a:r>
              <a:rPr lang="en-US" dirty="0" smtClean="0"/>
              <a:t>Parts of replication:</a:t>
            </a:r>
          </a:p>
          <a:p>
            <a:pPr lvl="1"/>
            <a:r>
              <a:rPr lang="en-US" dirty="0" smtClean="0"/>
              <a:t>Snapshot Agent</a:t>
            </a:r>
          </a:p>
          <a:p>
            <a:pPr lvl="1"/>
            <a:r>
              <a:rPr lang="en-US" dirty="0" smtClean="0"/>
              <a:t>Log Reader Agent</a:t>
            </a:r>
          </a:p>
          <a:p>
            <a:pPr lvl="1"/>
            <a:r>
              <a:rPr lang="en-US" dirty="0" smtClean="0"/>
              <a:t>Merger Agent</a:t>
            </a:r>
          </a:p>
          <a:p>
            <a:pPr lvl="1"/>
            <a:r>
              <a:rPr lang="en-US" dirty="0" smtClean="0"/>
              <a:t>SQL Agent jobs</a:t>
            </a:r>
          </a:p>
          <a:p>
            <a:pPr lvl="1"/>
            <a:endParaRPr lang="en-US" dirty="0" smtClean="0"/>
          </a:p>
          <a:p>
            <a:r>
              <a:rPr lang="en-US" dirty="0"/>
              <a:t>Types of replication:</a:t>
            </a:r>
          </a:p>
          <a:p>
            <a:pPr lvl="1"/>
            <a:r>
              <a:rPr lang="en-US" dirty="0"/>
              <a:t>Snapshot</a:t>
            </a:r>
          </a:p>
          <a:p>
            <a:pPr lvl="1"/>
            <a:r>
              <a:rPr lang="en-US" dirty="0"/>
              <a:t>Transactional</a:t>
            </a:r>
          </a:p>
          <a:p>
            <a:pPr lvl="1"/>
            <a:r>
              <a:rPr lang="en-US" dirty="0" smtClean="0"/>
              <a:t>Merge</a:t>
            </a:r>
            <a:endParaRPr lang="en-US" dirty="0"/>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solidFill>
                  <a:srgbClr val="791314"/>
                </a:solidFill>
              </a:rPr>
              <a:pPr/>
              <a:t>3</a:t>
            </a:fld>
            <a:endParaRPr lang="en-US" dirty="0">
              <a:solidFill>
                <a:srgbClr val="791314"/>
              </a:solidFill>
            </a:endParaRPr>
          </a:p>
        </p:txBody>
      </p:sp>
    </p:spTree>
    <p:extLst>
      <p:ext uri="{BB962C8B-B14F-4D97-AF65-F5344CB8AC3E}">
        <p14:creationId xmlns:p14="http://schemas.microsoft.com/office/powerpoint/2010/main" val="40166376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Snapshot Replication</a:t>
            </a:r>
            <a:endParaRPr lang="en-US" dirty="0"/>
          </a:p>
        </p:txBody>
      </p:sp>
      <p:sp>
        <p:nvSpPr>
          <p:cNvPr id="3" name="Content Placeholder 2"/>
          <p:cNvSpPr>
            <a:spLocks noGrp="1"/>
          </p:cNvSpPr>
          <p:nvPr>
            <p:ph sz="half" idx="1"/>
          </p:nvPr>
        </p:nvSpPr>
        <p:spPr>
          <a:xfrm>
            <a:off x="457199" y="1200151"/>
            <a:ext cx="8229601" cy="3394472"/>
          </a:xfrm>
        </p:spPr>
        <p:txBody>
          <a:bodyPr>
            <a:normAutofit/>
          </a:bodyPr>
          <a:lstStyle/>
          <a:p>
            <a:pPr marL="0" indent="0">
              <a:buNone/>
            </a:pPr>
            <a:r>
              <a:rPr lang="en-US" sz="2000" dirty="0"/>
              <a:t>Snapshot replication distributes data exactly as it appears at a specific moment in time and does not monitor for updates to the data. When synchronization occurs, the entire snapshot is generated and sent to Subscribers.</a:t>
            </a:r>
          </a:p>
          <a:p>
            <a:r>
              <a:rPr lang="en-US" sz="2000" dirty="0" smtClean="0"/>
              <a:t>Pros:</a:t>
            </a:r>
          </a:p>
          <a:p>
            <a:pPr lvl="1"/>
            <a:r>
              <a:rPr lang="en-US" sz="1800" dirty="0" smtClean="0"/>
              <a:t>Best used for infrequent updates.</a:t>
            </a:r>
          </a:p>
          <a:p>
            <a:pPr lvl="1"/>
            <a:r>
              <a:rPr lang="en-US" sz="1800" dirty="0" smtClean="0"/>
              <a:t>Less constant overhead than transactional replication.</a:t>
            </a:r>
          </a:p>
          <a:p>
            <a:r>
              <a:rPr lang="en-US" sz="2000" dirty="0" smtClean="0"/>
              <a:t>Cons:</a:t>
            </a:r>
          </a:p>
          <a:p>
            <a:pPr lvl="1"/>
            <a:r>
              <a:rPr lang="en-US" sz="1800" dirty="0" smtClean="0"/>
              <a:t>Data frequently out of sync.</a:t>
            </a:r>
          </a:p>
          <a:p>
            <a:endParaRPr lang="en-US" dirty="0" smtClean="0"/>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solidFill>
                  <a:srgbClr val="791314"/>
                </a:solidFill>
              </a:rPr>
              <a:pPr/>
              <a:t>4</a:t>
            </a:fld>
            <a:endParaRPr lang="en-US" dirty="0">
              <a:solidFill>
                <a:srgbClr val="791314"/>
              </a:solidFill>
            </a:endParaRPr>
          </a:p>
        </p:txBody>
      </p:sp>
    </p:spTree>
    <p:extLst>
      <p:ext uri="{BB962C8B-B14F-4D97-AF65-F5344CB8AC3E}">
        <p14:creationId xmlns:p14="http://schemas.microsoft.com/office/powerpoint/2010/main" val="105578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Transactional Replication</a:t>
            </a:r>
            <a:endParaRPr lang="en-US" dirty="0"/>
          </a:p>
        </p:txBody>
      </p:sp>
      <p:sp>
        <p:nvSpPr>
          <p:cNvPr id="3" name="Content Placeholder 2"/>
          <p:cNvSpPr>
            <a:spLocks noGrp="1"/>
          </p:cNvSpPr>
          <p:nvPr>
            <p:ph sz="half" idx="1"/>
          </p:nvPr>
        </p:nvSpPr>
        <p:spPr>
          <a:xfrm>
            <a:off x="457199" y="1200151"/>
            <a:ext cx="8229601" cy="3394472"/>
          </a:xfrm>
        </p:spPr>
        <p:txBody>
          <a:bodyPr>
            <a:normAutofit fontScale="92500"/>
          </a:bodyPr>
          <a:lstStyle/>
          <a:p>
            <a:pPr marL="0" indent="0">
              <a:buNone/>
            </a:pPr>
            <a:r>
              <a:rPr lang="en-US" sz="2200" dirty="0" smtClean="0"/>
              <a:t>With transactional replication, </a:t>
            </a:r>
            <a:r>
              <a:rPr lang="en-US" sz="2200" dirty="0"/>
              <a:t>subsequent data changes and schema modifications made at the Publisher are usually delivered to the Subscriber as they occur (in near real time). The data changes are applied to the Subscriber in the same order and within the same transaction boundaries as they occurred at the Publisher; therefore, within a publication, transactional consistency is guaranteed</a:t>
            </a:r>
            <a:r>
              <a:rPr lang="en-US" sz="2200" dirty="0" smtClean="0"/>
              <a:t>.</a:t>
            </a:r>
          </a:p>
          <a:p>
            <a:r>
              <a:rPr lang="en-US" sz="2200" dirty="0" smtClean="0"/>
              <a:t>Pros:</a:t>
            </a:r>
          </a:p>
          <a:p>
            <a:pPr lvl="1"/>
            <a:r>
              <a:rPr lang="en-US" sz="1900" dirty="0" smtClean="0"/>
              <a:t>Low latency</a:t>
            </a:r>
          </a:p>
          <a:p>
            <a:r>
              <a:rPr lang="en-US" sz="2200" dirty="0" smtClean="0"/>
              <a:t>Cons</a:t>
            </a:r>
          </a:p>
          <a:p>
            <a:pPr lvl="1"/>
            <a:r>
              <a:rPr lang="en-US" sz="1900" dirty="0" smtClean="0"/>
              <a:t>Higher overhead</a:t>
            </a:r>
          </a:p>
          <a:p>
            <a:pPr marL="0" indent="0">
              <a:buNone/>
            </a:pPr>
            <a:endParaRPr lang="en-US" dirty="0" smtClean="0"/>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solidFill>
                  <a:srgbClr val="791314"/>
                </a:solidFill>
              </a:rPr>
              <a:pPr/>
              <a:t>5</a:t>
            </a:fld>
            <a:endParaRPr lang="en-US" dirty="0">
              <a:solidFill>
                <a:srgbClr val="791314"/>
              </a:solidFill>
            </a:endParaRPr>
          </a:p>
        </p:txBody>
      </p:sp>
    </p:spTree>
    <p:extLst>
      <p:ext uri="{BB962C8B-B14F-4D97-AF65-F5344CB8AC3E}">
        <p14:creationId xmlns:p14="http://schemas.microsoft.com/office/powerpoint/2010/main" val="4167662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Replication</a:t>
            </a:r>
            <a:endParaRPr lang="en-US" dirty="0"/>
          </a:p>
        </p:txBody>
      </p:sp>
      <p:sp>
        <p:nvSpPr>
          <p:cNvPr id="3" name="Content Placeholder 2"/>
          <p:cNvSpPr>
            <a:spLocks noGrp="1"/>
          </p:cNvSpPr>
          <p:nvPr>
            <p:ph sz="half" idx="1"/>
          </p:nvPr>
        </p:nvSpPr>
        <p:spPr>
          <a:xfrm>
            <a:off x="457199" y="1200151"/>
            <a:ext cx="8229601" cy="3394472"/>
          </a:xfrm>
        </p:spPr>
        <p:txBody>
          <a:bodyPr>
            <a:normAutofit/>
          </a:bodyPr>
          <a:lstStyle/>
          <a:p>
            <a:pPr marL="0" indent="0">
              <a:buNone/>
            </a:pPr>
            <a:r>
              <a:rPr lang="en-US" sz="2000" dirty="0" smtClean="0"/>
              <a:t>With merge replication, </a:t>
            </a:r>
            <a:r>
              <a:rPr lang="en-US" sz="2000" dirty="0"/>
              <a:t>s</a:t>
            </a:r>
            <a:r>
              <a:rPr lang="en-US" sz="2000" dirty="0" smtClean="0"/>
              <a:t>ubsequent </a:t>
            </a:r>
            <a:r>
              <a:rPr lang="en-US" sz="2000" dirty="0"/>
              <a:t>data changes and schema modifications made at the Publisher and Subscribers are tracked with triggers. The Subscriber synchronizes with the Publisher when connected to the network and exchanges all rows that have changed between the Publisher and Subscriber since the last time synchronization occurred</a:t>
            </a:r>
            <a:r>
              <a:rPr lang="en-US" sz="2000" dirty="0" smtClean="0"/>
              <a:t>.</a:t>
            </a:r>
          </a:p>
          <a:p>
            <a:r>
              <a:rPr lang="en-US" sz="2000" dirty="0" smtClean="0"/>
              <a:t>Pros</a:t>
            </a:r>
          </a:p>
          <a:p>
            <a:pPr lvl="1"/>
            <a:r>
              <a:rPr lang="en-US" sz="1800" dirty="0" smtClean="0"/>
              <a:t>Easier to detect and resolve conflicts.</a:t>
            </a:r>
          </a:p>
          <a:p>
            <a:pPr lvl="1"/>
            <a:r>
              <a:rPr lang="en-US" sz="1800" dirty="0" smtClean="0"/>
              <a:t>Typically used in server to client environments.</a:t>
            </a:r>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solidFill>
                  <a:srgbClr val="791314"/>
                </a:solidFill>
              </a:rPr>
              <a:pPr/>
              <a:t>6</a:t>
            </a:fld>
            <a:endParaRPr lang="en-US" dirty="0">
              <a:solidFill>
                <a:srgbClr val="791314"/>
              </a:solidFill>
            </a:endParaRPr>
          </a:p>
        </p:txBody>
      </p:sp>
    </p:spTree>
    <p:extLst>
      <p:ext uri="{BB962C8B-B14F-4D97-AF65-F5344CB8AC3E}">
        <p14:creationId xmlns:p14="http://schemas.microsoft.com/office/powerpoint/2010/main" val="20178414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Can’t Articles Be Added Now?</a:t>
            </a:r>
            <a:endParaRPr lang="en-US" dirty="0"/>
          </a:p>
        </p:txBody>
      </p:sp>
      <p:sp>
        <p:nvSpPr>
          <p:cNvPr id="3" name="Content Placeholder 2"/>
          <p:cNvSpPr>
            <a:spLocks noGrp="1"/>
          </p:cNvSpPr>
          <p:nvPr>
            <p:ph idx="1"/>
          </p:nvPr>
        </p:nvSpPr>
        <p:spPr/>
        <p:txBody>
          <a:bodyPr>
            <a:normAutofit/>
          </a:bodyPr>
          <a:lstStyle/>
          <a:p>
            <a:r>
              <a:rPr lang="en-US" dirty="0" smtClean="0"/>
              <a:t>By default configuration, publications generate a full snapshot once new articles have been added to an existing publication.</a:t>
            </a:r>
            <a:br>
              <a:rPr lang="en-US" dirty="0" smtClean="0"/>
            </a:br>
            <a:endParaRPr lang="en-US" dirty="0" smtClean="0"/>
          </a:p>
          <a:p>
            <a:r>
              <a:rPr lang="en-US" dirty="0" smtClean="0"/>
              <a:t>A full snapshot can be problem for large databases</a:t>
            </a:r>
          </a:p>
          <a:p>
            <a:pPr lvl="1"/>
            <a:r>
              <a:rPr lang="en-US" dirty="0" smtClean="0"/>
              <a:t>Requires a short exclusive lock on all articles</a:t>
            </a:r>
          </a:p>
          <a:p>
            <a:pPr lvl="1"/>
            <a:r>
              <a:rPr lang="en-US" dirty="0" smtClean="0"/>
              <a:t>Overhead to the Database Engine</a:t>
            </a:r>
          </a:p>
          <a:p>
            <a:pPr lvl="1"/>
            <a:r>
              <a:rPr lang="en-US" dirty="0" smtClean="0"/>
              <a:t>Storage concerns</a:t>
            </a:r>
          </a:p>
        </p:txBody>
      </p:sp>
      <p:sp>
        <p:nvSpPr>
          <p:cNvPr id="4" name="Slide Number Placeholder 3"/>
          <p:cNvSpPr>
            <a:spLocks noGrp="1"/>
          </p:cNvSpPr>
          <p:nvPr>
            <p:ph type="sldNum" sz="quarter" idx="12"/>
          </p:nvPr>
        </p:nvSpPr>
        <p:spPr/>
        <p:txBody>
          <a:bodyPr/>
          <a:lstStyle/>
          <a:p>
            <a:fld id="{E8DC8B33-6545-7944-80DF-3F0DFD18D346}" type="slidenum">
              <a:rPr lang="en-US" smtClean="0"/>
              <a:t>7</a:t>
            </a:fld>
            <a:endParaRPr lang="en-US"/>
          </a:p>
        </p:txBody>
      </p:sp>
    </p:spTree>
    <p:extLst>
      <p:ext uri="{BB962C8B-B14F-4D97-AF65-F5344CB8AC3E}">
        <p14:creationId xmlns:p14="http://schemas.microsoft.com/office/powerpoint/2010/main" val="3437412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Required Publication Property Changes </a:t>
            </a:r>
            <a:endParaRPr lang="en-US" dirty="0"/>
          </a:p>
        </p:txBody>
      </p:sp>
      <p:sp>
        <p:nvSpPr>
          <p:cNvPr id="3" name="Content Placeholder 2"/>
          <p:cNvSpPr>
            <a:spLocks noGrp="1"/>
          </p:cNvSpPr>
          <p:nvPr>
            <p:ph sz="half" idx="1"/>
          </p:nvPr>
        </p:nvSpPr>
        <p:spPr>
          <a:xfrm>
            <a:off x="457199" y="1200151"/>
            <a:ext cx="8229601" cy="3394472"/>
          </a:xfrm>
        </p:spPr>
        <p:txBody>
          <a:bodyPr>
            <a:normAutofit fontScale="92500" lnSpcReduction="10000"/>
          </a:bodyPr>
          <a:lstStyle/>
          <a:p>
            <a:r>
              <a:rPr lang="en-US" dirty="0" err="1" smtClean="0"/>
              <a:t>Allow_Anonymous</a:t>
            </a:r>
            <a:endParaRPr lang="en-US" dirty="0" smtClean="0"/>
          </a:p>
          <a:p>
            <a:pPr lvl="1"/>
            <a:r>
              <a:rPr lang="en-US" dirty="0" smtClean="0"/>
              <a:t>Set </a:t>
            </a:r>
            <a:r>
              <a:rPr lang="en-US" dirty="0" err="1" smtClean="0"/>
              <a:t>Allow_Anonymous</a:t>
            </a:r>
            <a:r>
              <a:rPr lang="en-US" dirty="0" smtClean="0"/>
              <a:t> first</a:t>
            </a:r>
          </a:p>
          <a:p>
            <a:pPr marL="400050" lvl="1" indent="0">
              <a:buNone/>
            </a:pPr>
            <a:r>
              <a:rPr lang="en-US" sz="1100" dirty="0" smtClean="0">
                <a:solidFill>
                  <a:srgbClr val="0000FF"/>
                </a:solidFill>
              </a:rPr>
              <a:t>EXEC</a:t>
            </a:r>
            <a:r>
              <a:rPr lang="en-US" sz="1100" dirty="0" smtClean="0">
                <a:solidFill>
                  <a:prstClr val="black"/>
                </a:solidFill>
              </a:rPr>
              <a:t> </a:t>
            </a:r>
            <a:r>
              <a:rPr lang="en-US" sz="1100" dirty="0" err="1" smtClean="0">
                <a:solidFill>
                  <a:srgbClr val="800000"/>
                </a:solidFill>
              </a:rPr>
              <a:t>sp_changepublication</a:t>
            </a:r>
            <a:endParaRPr lang="en-US" sz="1100" dirty="0" smtClean="0">
              <a:solidFill>
                <a:srgbClr val="800000"/>
              </a:solidFill>
            </a:endParaRPr>
          </a:p>
          <a:p>
            <a:pPr marL="400050" lvl="1" indent="0">
              <a:buNone/>
            </a:pPr>
            <a:r>
              <a:rPr lang="en-US" sz="1100" dirty="0" smtClean="0">
                <a:solidFill>
                  <a:srgbClr val="0000FF"/>
                </a:solidFill>
              </a:rPr>
              <a:t>        </a:t>
            </a:r>
            <a:r>
              <a:rPr lang="en-US" sz="1100" dirty="0">
                <a:solidFill>
                  <a:prstClr val="black"/>
                </a:solidFill>
              </a:rPr>
              <a:t>@publication</a:t>
            </a:r>
            <a:r>
              <a:rPr lang="en-US" sz="1100" dirty="0">
                <a:solidFill>
                  <a:srgbClr val="808080"/>
                </a:solidFill>
              </a:rPr>
              <a:t>=</a:t>
            </a:r>
            <a:r>
              <a:rPr lang="en-US" sz="1100" dirty="0" err="1">
                <a:solidFill>
                  <a:srgbClr val="FF0000"/>
                </a:solidFill>
              </a:rPr>
              <a:t>N'AW_Repl_Demo</a:t>
            </a:r>
            <a:r>
              <a:rPr lang="en-US" sz="1100" dirty="0">
                <a:solidFill>
                  <a:srgbClr val="FF0000"/>
                </a:solidFill>
              </a:rPr>
              <a:t>'</a:t>
            </a:r>
          </a:p>
          <a:p>
            <a:pPr marL="400050" lvl="1" indent="0">
              <a:buNone/>
            </a:pPr>
            <a:r>
              <a:rPr lang="en-US" sz="1100" dirty="0">
                <a:solidFill>
                  <a:prstClr val="black"/>
                </a:solidFill>
              </a:rPr>
              <a:t>      </a:t>
            </a:r>
            <a:r>
              <a:rPr lang="en-US" sz="1100" dirty="0">
                <a:solidFill>
                  <a:srgbClr val="808080"/>
                </a:solidFill>
              </a:rPr>
              <a:t>,</a:t>
            </a:r>
            <a:r>
              <a:rPr lang="en-US" sz="1100" dirty="0">
                <a:solidFill>
                  <a:prstClr val="black"/>
                </a:solidFill>
              </a:rPr>
              <a:t> @property</a:t>
            </a:r>
            <a:r>
              <a:rPr lang="en-US" sz="1100" dirty="0">
                <a:solidFill>
                  <a:srgbClr val="808080"/>
                </a:solidFill>
              </a:rPr>
              <a:t>=</a:t>
            </a:r>
            <a:r>
              <a:rPr lang="en-US" sz="1100" dirty="0" err="1">
                <a:solidFill>
                  <a:srgbClr val="FF0000"/>
                </a:solidFill>
              </a:rPr>
              <a:t>N'allow_anonymous</a:t>
            </a:r>
            <a:r>
              <a:rPr lang="en-US" sz="1100" dirty="0">
                <a:solidFill>
                  <a:srgbClr val="FF0000"/>
                </a:solidFill>
              </a:rPr>
              <a:t>'</a:t>
            </a:r>
          </a:p>
          <a:p>
            <a:pPr marL="400050" lvl="1" indent="0">
              <a:buNone/>
            </a:pPr>
            <a:r>
              <a:rPr lang="en-US" sz="1100" dirty="0">
                <a:solidFill>
                  <a:prstClr val="black"/>
                </a:solidFill>
              </a:rPr>
              <a:t>      </a:t>
            </a:r>
            <a:r>
              <a:rPr lang="en-US" sz="1100" dirty="0">
                <a:solidFill>
                  <a:srgbClr val="808080"/>
                </a:solidFill>
              </a:rPr>
              <a:t>,</a:t>
            </a:r>
            <a:r>
              <a:rPr lang="en-US" sz="1100" dirty="0">
                <a:solidFill>
                  <a:prstClr val="black"/>
                </a:solidFill>
              </a:rPr>
              <a:t> @value</a:t>
            </a:r>
            <a:r>
              <a:rPr lang="en-US" sz="1100" dirty="0">
                <a:solidFill>
                  <a:srgbClr val="808080"/>
                </a:solidFill>
              </a:rPr>
              <a:t>=</a:t>
            </a:r>
            <a:r>
              <a:rPr lang="en-US" sz="1100" dirty="0">
                <a:solidFill>
                  <a:srgbClr val="FF0000"/>
                </a:solidFill>
              </a:rPr>
              <a:t>'false'</a:t>
            </a:r>
            <a:r>
              <a:rPr lang="en-US" sz="1100" dirty="0">
                <a:solidFill>
                  <a:srgbClr val="808080"/>
                </a:solidFill>
              </a:rPr>
              <a:t>;</a:t>
            </a:r>
          </a:p>
          <a:p>
            <a:pPr marL="400050" lvl="1" indent="0">
              <a:buNone/>
            </a:pPr>
            <a:r>
              <a:rPr lang="en-US" sz="1100" dirty="0" smtClean="0">
                <a:solidFill>
                  <a:srgbClr val="0000FF"/>
                </a:solidFill>
              </a:rPr>
              <a:t>GO</a:t>
            </a:r>
            <a:endParaRPr lang="en-US" sz="2800" dirty="0" smtClean="0"/>
          </a:p>
          <a:p>
            <a:r>
              <a:rPr lang="en-US" dirty="0" err="1" smtClean="0"/>
              <a:t>Immediate_Sync</a:t>
            </a:r>
            <a:endParaRPr lang="en-US" dirty="0" smtClean="0"/>
          </a:p>
          <a:p>
            <a:pPr lvl="1"/>
            <a:r>
              <a:rPr lang="en-US" dirty="0" err="1" smtClean="0"/>
              <a:t>Immediate_Sync</a:t>
            </a:r>
            <a:r>
              <a:rPr lang="en-US" dirty="0" smtClean="0"/>
              <a:t> must be set second, it is dependent on </a:t>
            </a:r>
            <a:r>
              <a:rPr lang="en-US" dirty="0" err="1" smtClean="0"/>
              <a:t>Allow_Anonymous</a:t>
            </a:r>
            <a:endParaRPr lang="en-US" dirty="0" smtClean="0"/>
          </a:p>
          <a:p>
            <a:pPr marL="400050" lvl="1" indent="0">
              <a:buNone/>
            </a:pPr>
            <a:r>
              <a:rPr lang="en-US" sz="1100" dirty="0" smtClean="0">
                <a:solidFill>
                  <a:srgbClr val="0000FF"/>
                </a:solidFill>
              </a:rPr>
              <a:t>EXEC</a:t>
            </a:r>
            <a:r>
              <a:rPr lang="en-US" sz="1100" dirty="0" smtClean="0">
                <a:solidFill>
                  <a:prstClr val="black"/>
                </a:solidFill>
              </a:rPr>
              <a:t> </a:t>
            </a:r>
            <a:r>
              <a:rPr lang="en-US" sz="1100" dirty="0" err="1">
                <a:solidFill>
                  <a:srgbClr val="800000"/>
                </a:solidFill>
              </a:rPr>
              <a:t>sp_changepublication</a:t>
            </a:r>
            <a:endParaRPr lang="en-US" sz="1100" dirty="0">
              <a:solidFill>
                <a:srgbClr val="800000"/>
              </a:solidFill>
            </a:endParaRPr>
          </a:p>
          <a:p>
            <a:pPr marL="400050" lvl="1" indent="0">
              <a:buNone/>
            </a:pPr>
            <a:r>
              <a:rPr lang="en-US" sz="1100" dirty="0">
                <a:solidFill>
                  <a:srgbClr val="0000FF"/>
                </a:solidFill>
              </a:rPr>
              <a:t>        </a:t>
            </a:r>
            <a:r>
              <a:rPr lang="en-US" sz="1100" dirty="0">
                <a:solidFill>
                  <a:prstClr val="black"/>
                </a:solidFill>
              </a:rPr>
              <a:t>@publication</a:t>
            </a:r>
            <a:r>
              <a:rPr lang="en-US" sz="1100" dirty="0">
                <a:solidFill>
                  <a:srgbClr val="808080"/>
                </a:solidFill>
              </a:rPr>
              <a:t>=</a:t>
            </a:r>
            <a:r>
              <a:rPr lang="en-US" sz="1100" dirty="0" err="1">
                <a:solidFill>
                  <a:srgbClr val="FF0000"/>
                </a:solidFill>
              </a:rPr>
              <a:t>N'AW_Repl_Demo</a:t>
            </a:r>
            <a:r>
              <a:rPr lang="en-US" sz="1100" dirty="0">
                <a:solidFill>
                  <a:srgbClr val="FF0000"/>
                </a:solidFill>
              </a:rPr>
              <a:t>'</a:t>
            </a:r>
          </a:p>
          <a:p>
            <a:pPr marL="400050" lvl="1" indent="0">
              <a:buNone/>
            </a:pPr>
            <a:r>
              <a:rPr lang="en-US" sz="1100" dirty="0">
                <a:solidFill>
                  <a:prstClr val="black"/>
                </a:solidFill>
              </a:rPr>
              <a:t>      </a:t>
            </a:r>
            <a:r>
              <a:rPr lang="en-US" sz="1100" dirty="0">
                <a:solidFill>
                  <a:srgbClr val="808080"/>
                </a:solidFill>
              </a:rPr>
              <a:t>,</a:t>
            </a:r>
            <a:r>
              <a:rPr lang="en-US" sz="1100" dirty="0">
                <a:solidFill>
                  <a:prstClr val="black"/>
                </a:solidFill>
              </a:rPr>
              <a:t> @property</a:t>
            </a:r>
            <a:r>
              <a:rPr lang="en-US" sz="1100" dirty="0">
                <a:solidFill>
                  <a:srgbClr val="808080"/>
                </a:solidFill>
              </a:rPr>
              <a:t>=</a:t>
            </a:r>
            <a:r>
              <a:rPr lang="en-US" sz="1100" dirty="0" err="1">
                <a:solidFill>
                  <a:srgbClr val="FF0000"/>
                </a:solidFill>
              </a:rPr>
              <a:t>N'immediate_sync</a:t>
            </a:r>
            <a:r>
              <a:rPr lang="en-US" sz="1100" dirty="0">
                <a:solidFill>
                  <a:srgbClr val="FF0000"/>
                </a:solidFill>
              </a:rPr>
              <a:t>'</a:t>
            </a:r>
          </a:p>
          <a:p>
            <a:pPr marL="400050" lvl="1" indent="0">
              <a:buNone/>
            </a:pPr>
            <a:r>
              <a:rPr lang="en-US" sz="1100" dirty="0">
                <a:solidFill>
                  <a:prstClr val="black"/>
                </a:solidFill>
              </a:rPr>
              <a:t>      </a:t>
            </a:r>
            <a:r>
              <a:rPr lang="en-US" sz="1100" dirty="0">
                <a:solidFill>
                  <a:srgbClr val="808080"/>
                </a:solidFill>
              </a:rPr>
              <a:t>,</a:t>
            </a:r>
            <a:r>
              <a:rPr lang="en-US" sz="1100" dirty="0">
                <a:solidFill>
                  <a:prstClr val="black"/>
                </a:solidFill>
              </a:rPr>
              <a:t> @value</a:t>
            </a:r>
            <a:r>
              <a:rPr lang="en-US" sz="1100" dirty="0">
                <a:solidFill>
                  <a:srgbClr val="808080"/>
                </a:solidFill>
              </a:rPr>
              <a:t>=</a:t>
            </a:r>
            <a:r>
              <a:rPr lang="en-US" sz="1100" dirty="0">
                <a:solidFill>
                  <a:srgbClr val="FF0000"/>
                </a:solidFill>
              </a:rPr>
              <a:t>'false'</a:t>
            </a:r>
            <a:r>
              <a:rPr lang="en-US" sz="1100" dirty="0">
                <a:solidFill>
                  <a:srgbClr val="808080"/>
                </a:solidFill>
              </a:rPr>
              <a:t>;</a:t>
            </a:r>
          </a:p>
          <a:p>
            <a:pPr marL="400050" lvl="1" indent="0">
              <a:buNone/>
            </a:pPr>
            <a:r>
              <a:rPr lang="en-US" sz="1100" dirty="0">
                <a:solidFill>
                  <a:srgbClr val="0000FF"/>
                </a:solidFill>
              </a:rPr>
              <a:t>GO</a:t>
            </a:r>
            <a:endParaRPr lang="en-US" sz="2600" dirty="0"/>
          </a:p>
        </p:txBody>
      </p:sp>
      <p:sp>
        <p:nvSpPr>
          <p:cNvPr id="4" name="Slide Number Placeholder 3"/>
          <p:cNvSpPr>
            <a:spLocks noGrp="1"/>
          </p:cNvSpPr>
          <p:nvPr>
            <p:ph type="sldNum" sz="quarter" idx="4"/>
          </p:nvPr>
        </p:nvSpPr>
        <p:spPr>
          <a:xfrm>
            <a:off x="6553200" y="4767263"/>
            <a:ext cx="2133600" cy="273844"/>
          </a:xfrm>
        </p:spPr>
        <p:txBody>
          <a:bodyPr/>
          <a:lstStyle/>
          <a:p>
            <a:fld id="{E8DC8B33-6545-7944-80DF-3F0DFD18D346}" type="slidenum">
              <a:rPr lang="en-US" smtClean="0"/>
              <a:pPr/>
              <a:t>8</a:t>
            </a:fld>
            <a:endParaRPr lang="en-US" dirty="0"/>
          </a:p>
        </p:txBody>
      </p:sp>
    </p:spTree>
    <p:extLst>
      <p:ext uri="{BB962C8B-B14F-4D97-AF65-F5344CB8AC3E}">
        <p14:creationId xmlns:p14="http://schemas.microsoft.com/office/powerpoint/2010/main" val="7313214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Demonstration</a:t>
            </a:r>
            <a:endParaRPr lang="en-US" dirty="0"/>
          </a:p>
        </p:txBody>
      </p:sp>
      <p:sp>
        <p:nvSpPr>
          <p:cNvPr id="4" name="Slide Number Placeholder 3"/>
          <p:cNvSpPr>
            <a:spLocks noGrp="1"/>
          </p:cNvSpPr>
          <p:nvPr>
            <p:ph type="sldNum" sz="quarter" idx="12"/>
          </p:nvPr>
        </p:nvSpPr>
        <p:spPr>
          <a:xfrm>
            <a:off x="6553200" y="4743596"/>
            <a:ext cx="2133600" cy="273844"/>
          </a:xfrm>
        </p:spPr>
        <p:txBody>
          <a:bodyPr/>
          <a:lstStyle/>
          <a:p>
            <a:fld id="{E8DC8B33-6545-7944-80DF-3F0DFD18D346}" type="slidenum">
              <a:rPr lang="en-US" smtClean="0"/>
              <a:t>9</a:t>
            </a:fld>
            <a:endParaRPr lang="en-US"/>
          </a:p>
        </p:txBody>
      </p:sp>
      <p:sp>
        <p:nvSpPr>
          <p:cNvPr id="5" name="Content Placeholder 2"/>
          <p:cNvSpPr txBox="1">
            <a:spLocks/>
          </p:cNvSpPr>
          <p:nvPr/>
        </p:nvSpPr>
        <p:spPr>
          <a:xfrm>
            <a:off x="457200" y="1200151"/>
            <a:ext cx="8229600" cy="3394472"/>
          </a:xfrm>
          <a:prstGeom prst="rect">
            <a:avLst/>
          </a:prstGeom>
        </p:spPr>
        <p:txBody>
          <a:bodyPr/>
          <a:lstStyle>
            <a:lvl1pPr marL="342900" indent="-342900" algn="l" defTabSz="457200" rtl="0" eaLnBrk="1" latinLnBrk="0" hangingPunct="1">
              <a:spcBef>
                <a:spcPct val="20000"/>
              </a:spcBef>
              <a:buClr>
                <a:srgbClr val="800000"/>
              </a:buClr>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Clr>
                <a:srgbClr val="800000"/>
              </a:buClr>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Clr>
                <a:srgbClr val="800000"/>
              </a:buClr>
              <a:buFont typeface="Courier New"/>
              <a:buChar char="o"/>
              <a:defRPr sz="1800" kern="1200">
                <a:solidFill>
                  <a:schemeClr val="tx1"/>
                </a:solidFill>
                <a:latin typeface="Arial"/>
                <a:ea typeface="+mn-ea"/>
                <a:cs typeface="Arial"/>
              </a:defRPr>
            </a:lvl3pPr>
            <a:lvl4pPr marL="16002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smtClean="0"/>
              <a:t>Sample replication setup:</a:t>
            </a:r>
          </a:p>
          <a:p>
            <a:pPr lvl="1"/>
            <a:r>
              <a:rPr lang="en-US" sz="1800" dirty="0" err="1" smtClean="0"/>
              <a:t>Adventureworks</a:t>
            </a:r>
            <a:endParaRPr lang="en-US" sz="1800" dirty="0" smtClean="0"/>
          </a:p>
          <a:p>
            <a:pPr lvl="1"/>
            <a:r>
              <a:rPr lang="en-US" sz="1800" dirty="0" smtClean="0"/>
              <a:t>Transaction replication, pull subscription</a:t>
            </a:r>
          </a:p>
          <a:p>
            <a:pPr lvl="1"/>
            <a:r>
              <a:rPr lang="en-US" sz="1800" dirty="0" smtClean="0"/>
              <a:t>Publisher is acting as Distributor</a:t>
            </a:r>
          </a:p>
          <a:p>
            <a:r>
              <a:rPr lang="en-US" sz="2000" dirty="0" smtClean="0"/>
              <a:t>Steps:</a:t>
            </a:r>
          </a:p>
          <a:p>
            <a:pPr lvl="1"/>
            <a:r>
              <a:rPr lang="en-US" sz="1800" dirty="0" smtClean="0"/>
              <a:t>Add articles to publication (standard </a:t>
            </a:r>
            <a:r>
              <a:rPr lang="en-US" sz="1800" dirty="0" err="1" smtClean="0"/>
              <a:t>config</a:t>
            </a:r>
            <a:r>
              <a:rPr lang="en-US" sz="1800" dirty="0" smtClean="0"/>
              <a:t>)</a:t>
            </a:r>
          </a:p>
          <a:p>
            <a:pPr lvl="1"/>
            <a:r>
              <a:rPr lang="en-US" sz="1800" dirty="0" smtClean="0"/>
              <a:t>Initialize</a:t>
            </a:r>
          </a:p>
          <a:p>
            <a:pPr lvl="1"/>
            <a:r>
              <a:rPr lang="en-US" sz="1800" dirty="0" smtClean="0"/>
              <a:t>Update publication properties</a:t>
            </a:r>
          </a:p>
          <a:p>
            <a:pPr lvl="1"/>
            <a:r>
              <a:rPr lang="en-US" sz="1800" dirty="0" smtClean="0"/>
              <a:t>Add articles</a:t>
            </a:r>
          </a:p>
          <a:p>
            <a:pPr lvl="1"/>
            <a:r>
              <a:rPr lang="en-US" sz="1800" dirty="0" err="1" smtClean="0"/>
              <a:t>Intialize</a:t>
            </a:r>
            <a:r>
              <a:rPr lang="en-US" sz="1800" dirty="0" smtClean="0"/>
              <a:t>!</a:t>
            </a:r>
          </a:p>
        </p:txBody>
      </p:sp>
    </p:spTree>
    <p:extLst>
      <p:ext uri="{BB962C8B-B14F-4D97-AF65-F5344CB8AC3E}">
        <p14:creationId xmlns:p14="http://schemas.microsoft.com/office/powerpoint/2010/main" val="69041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a:t>
            </a:r>
            <a:endParaRPr lang="en-US" dirty="0"/>
          </a:p>
        </p:txBody>
      </p:sp>
      <p:sp>
        <p:nvSpPr>
          <p:cNvPr id="4" name="Slide Number Placeholder 3"/>
          <p:cNvSpPr>
            <a:spLocks noGrp="1"/>
          </p:cNvSpPr>
          <p:nvPr>
            <p:ph type="sldNum" sz="quarter" idx="12"/>
          </p:nvPr>
        </p:nvSpPr>
        <p:spPr>
          <a:xfrm>
            <a:off x="6553200" y="4743596"/>
            <a:ext cx="2133600" cy="273844"/>
          </a:xfrm>
        </p:spPr>
        <p:txBody>
          <a:bodyPr/>
          <a:lstStyle/>
          <a:p>
            <a:fld id="{E8DC8B33-6545-7944-80DF-3F0DFD18D346}" type="slidenum">
              <a:rPr lang="en-US" smtClean="0"/>
              <a:t>10</a:t>
            </a:fld>
            <a:endParaRPr lang="en-US"/>
          </a:p>
        </p:txBody>
      </p:sp>
      <p:sp>
        <p:nvSpPr>
          <p:cNvPr id="5" name="Content Placeholder 2"/>
          <p:cNvSpPr txBox="1">
            <a:spLocks/>
          </p:cNvSpPr>
          <p:nvPr/>
        </p:nvSpPr>
        <p:spPr>
          <a:xfrm>
            <a:off x="457200" y="1200151"/>
            <a:ext cx="8229600" cy="3394472"/>
          </a:xfrm>
          <a:prstGeom prst="rect">
            <a:avLst/>
          </a:prstGeom>
        </p:spPr>
        <p:txBody>
          <a:bodyPr/>
          <a:lstStyle>
            <a:lvl1pPr marL="342900" indent="-342900" algn="l" defTabSz="457200" rtl="0" eaLnBrk="1" latinLnBrk="0" hangingPunct="1">
              <a:spcBef>
                <a:spcPct val="20000"/>
              </a:spcBef>
              <a:buClr>
                <a:srgbClr val="800000"/>
              </a:buClr>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Clr>
                <a:srgbClr val="800000"/>
              </a:buClr>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Clr>
                <a:srgbClr val="800000"/>
              </a:buClr>
              <a:buFont typeface="Courier New"/>
              <a:buChar char="o"/>
              <a:defRPr sz="1800" kern="1200">
                <a:solidFill>
                  <a:schemeClr val="tx1"/>
                </a:solidFill>
                <a:latin typeface="Arial"/>
                <a:ea typeface="+mn-ea"/>
                <a:cs typeface="Arial"/>
              </a:defRPr>
            </a:lvl3pPr>
            <a:lvl4pPr marL="16002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Clr>
                <a:srgbClr val="800000"/>
              </a:buClr>
              <a:buFont typeface="Lucida Grande"/>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smtClean="0">
                <a:hlinkClick r:id="rId2"/>
              </a:rPr>
              <a:t>MSDN: SQL Server Replication</a:t>
            </a:r>
            <a:endParaRPr lang="en-US" dirty="0" smtClean="0">
              <a:hlinkClick r:id="rId3"/>
            </a:endParaRPr>
          </a:p>
          <a:p>
            <a:r>
              <a:rPr lang="en-US" dirty="0" smtClean="0">
                <a:hlinkClick r:id="rId3"/>
              </a:rPr>
              <a:t>MSDN: Replication Features by Edition</a:t>
            </a:r>
            <a:endParaRPr lang="en-US" dirty="0" smtClean="0">
              <a:hlinkClick r:id="rId4"/>
            </a:endParaRPr>
          </a:p>
          <a:p>
            <a:r>
              <a:rPr lang="en-US" dirty="0" smtClean="0">
                <a:hlinkClick r:id="rId5"/>
              </a:rPr>
              <a:t>MSDN: Snapshot Replication</a:t>
            </a:r>
            <a:endParaRPr lang="en-US" dirty="0" smtClean="0"/>
          </a:p>
          <a:p>
            <a:r>
              <a:rPr lang="en-US" dirty="0">
                <a:hlinkClick r:id="rId6"/>
              </a:rPr>
              <a:t>MSDN: </a:t>
            </a:r>
            <a:r>
              <a:rPr lang="en-US" dirty="0" smtClean="0">
                <a:hlinkClick r:id="rId6"/>
              </a:rPr>
              <a:t>Merge Replication</a:t>
            </a:r>
            <a:endParaRPr lang="en-US" dirty="0"/>
          </a:p>
          <a:p>
            <a:r>
              <a:rPr lang="en-US" dirty="0">
                <a:hlinkClick r:id="rId4"/>
              </a:rPr>
              <a:t>MSDN: </a:t>
            </a:r>
            <a:r>
              <a:rPr lang="en-US" dirty="0" smtClean="0">
                <a:hlinkClick r:id="rId4"/>
              </a:rPr>
              <a:t>Transactional Replication</a:t>
            </a:r>
            <a:endParaRPr lang="en-US" dirty="0" smtClean="0"/>
          </a:p>
          <a:p>
            <a:r>
              <a:rPr lang="en-US" dirty="0" err="1" smtClean="0">
                <a:hlinkClick r:id="rId7"/>
              </a:rPr>
              <a:t>SQLServerCentral</a:t>
            </a:r>
            <a:r>
              <a:rPr lang="en-US" dirty="0" smtClean="0">
                <a:hlinkClick r:id="rId7"/>
              </a:rPr>
              <a:t>: Adding </a:t>
            </a:r>
            <a:r>
              <a:rPr lang="en-US" dirty="0">
                <a:hlinkClick r:id="rId7"/>
              </a:rPr>
              <a:t>an Article Without a Full </a:t>
            </a:r>
            <a:r>
              <a:rPr lang="en-US" dirty="0" smtClean="0">
                <a:hlinkClick r:id="rId7"/>
              </a:rPr>
              <a:t>Snapshot – Nick Burns</a:t>
            </a:r>
            <a:r>
              <a:rPr lang="en-US" dirty="0" smtClean="0"/>
              <a:t>	</a:t>
            </a:r>
            <a:endParaRPr lang="en-US" dirty="0"/>
          </a:p>
          <a:p>
            <a:endParaRPr lang="en-US" dirty="0" smtClean="0"/>
          </a:p>
        </p:txBody>
      </p:sp>
    </p:spTree>
    <p:extLst>
      <p:ext uri="{BB962C8B-B14F-4D97-AF65-F5344CB8AC3E}">
        <p14:creationId xmlns:p14="http://schemas.microsoft.com/office/powerpoint/2010/main" val="3332667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4" name="Slide Number Placeholder 3"/>
          <p:cNvSpPr>
            <a:spLocks noGrp="1"/>
          </p:cNvSpPr>
          <p:nvPr>
            <p:ph type="sldNum" sz="quarter" idx="12"/>
          </p:nvPr>
        </p:nvSpPr>
        <p:spPr/>
        <p:txBody>
          <a:bodyPr/>
          <a:lstStyle/>
          <a:p>
            <a:fld id="{E8DC8B33-6545-7944-80DF-3F0DFD18D346}" type="slidenum">
              <a:rPr lang="en-US" smtClean="0">
                <a:solidFill>
                  <a:srgbClr val="791314"/>
                </a:solidFill>
              </a:rPr>
              <a:pPr/>
              <a:t>11</a:t>
            </a:fld>
            <a:endParaRPr lang="en-US">
              <a:solidFill>
                <a:srgbClr val="791314"/>
              </a:solidFill>
            </a:endParaRPr>
          </a:p>
        </p:txBody>
      </p:sp>
    </p:spTree>
    <p:extLst>
      <p:ext uri="{BB962C8B-B14F-4D97-AF65-F5344CB8AC3E}">
        <p14:creationId xmlns:p14="http://schemas.microsoft.com/office/powerpoint/2010/main" val="22551947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18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Data Intensity">
      <a:dk1>
        <a:sysClr val="windowText" lastClr="000000"/>
      </a:dk1>
      <a:lt1>
        <a:sysClr val="window" lastClr="FFFFFF"/>
      </a:lt1>
      <a:dk2>
        <a:srgbClr val="791314"/>
      </a:dk2>
      <a:lt2>
        <a:srgbClr val="D6D6D6"/>
      </a:lt2>
      <a:accent1>
        <a:srgbClr val="717074"/>
      </a:accent1>
      <a:accent2>
        <a:srgbClr val="004370"/>
      </a:accent2>
      <a:accent3>
        <a:srgbClr val="CCCC33"/>
      </a:accent3>
      <a:accent4>
        <a:srgbClr val="B30700"/>
      </a:accent4>
      <a:accent5>
        <a:srgbClr val="90CF24"/>
      </a:accent5>
      <a:accent6>
        <a:srgbClr val="E9D1C1"/>
      </a:accent6>
      <a:hlink>
        <a:srgbClr val="004370"/>
      </a:hlink>
      <a:folHlink>
        <a:srgbClr val="00437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 slide template 2015 [Read-Only]" id="{BBA533A9-7FD8-4FEE-9B75-5043EB309874}" vid="{93887DDC-4BF7-4A7F-86C4-D1C820203D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1CE1784AB93A428EC8F4094DACE298" ma:contentTypeVersion="0" ma:contentTypeDescription="Create a new document." ma:contentTypeScope="" ma:versionID="faa8c47a950933b816774787e78c2d6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4F9A9C-F1BC-490F-AFC5-0BD6BD06F6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B3F26EDF-6F88-4719-9831-37E0818DB435}">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0D85F09-9463-45D8-BACE-34FAC5A9B3F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2015 Data Intensity PowerPoint Template</Template>
  <TotalTime>1435</TotalTime>
  <Words>514</Words>
  <Application>Microsoft Office PowerPoint</Application>
  <PresentationFormat>On-screen Show (16:9)</PresentationFormat>
  <Paragraphs>90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Courier New</vt:lpstr>
      <vt:lpstr>Gill Sans</vt:lpstr>
      <vt:lpstr>Lucida Grande</vt:lpstr>
      <vt:lpstr>Office Theme</vt:lpstr>
      <vt:lpstr>PowerPoint Presentation</vt:lpstr>
      <vt:lpstr>Replication Basics</vt:lpstr>
      <vt:lpstr>Replication Basics (con’t)</vt:lpstr>
      <vt:lpstr>Snapshot Replication</vt:lpstr>
      <vt:lpstr>Transactional Replication</vt:lpstr>
      <vt:lpstr>Merge Replication</vt:lpstr>
      <vt:lpstr>Why Can’t Articles Be Added Now?</vt:lpstr>
      <vt:lpstr>Required Publication Property Changes </vt:lpstr>
      <vt:lpstr>Demonstration</vt:lpstr>
      <vt:lpstr>Sources</vt:lpstr>
      <vt:lpstr>Questions?</vt:lpstr>
      <vt:lpstr>PowerPoint Presentation</vt:lpstr>
    </vt:vector>
  </TitlesOfParts>
  <Company>Data Intensity, LLC.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Nathanael Sellars</dc:creator>
  <cp:lastModifiedBy>Joshua Washer</cp:lastModifiedBy>
  <cp:revision>22</cp:revision>
  <cp:lastPrinted>2013-11-07T17:38:02Z</cp:lastPrinted>
  <dcterms:created xsi:type="dcterms:W3CDTF">2015-07-17T15:41:33Z</dcterms:created>
  <dcterms:modified xsi:type="dcterms:W3CDTF">2015-10-27T17:43:00Z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0x010100EA1CE1784AB93A428EC8F4094DACE298</vt:lpwstr>
  </property>
</Properties>
</file>